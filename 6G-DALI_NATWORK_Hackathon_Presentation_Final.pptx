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2BEFEEB-C72E-4E72-9409-705BF2A33C99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D2A06F-149C-450D-9FF4-8F14C20B917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0FB227-6055-4B90-B6F0-03445B5547A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B64ABC-C15B-4441-BF0E-0C770726CFF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FF6EE2-9D89-42C9-AC0A-C52E7DD4980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192DE7-3A3A-4D19-A7BC-02FCF5CDA8C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20BB09-18A1-4F61-9EA1-683BACAC14D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85CC88-62EA-4C79-B32D-3F44ED23A95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B7A808-EA65-418F-B10F-6511C3DF3C1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1E2679-E1E6-4518-B339-C0807643446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AD63FC-7F07-406B-BDC7-78F1996FC36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2191040" cy="127440"/>
          </a:xfrm>
          <a:prstGeom prst="roundRect">
            <a:avLst>
              <a:gd name="adj" fmla="val 71429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" name="Image 0" descr="/mnt/data/hack_assets/dali.png"/>
          <p:cNvPicPr/>
          <p:nvPr/>
        </p:nvPicPr>
        <p:blipFill>
          <a:blip r:embed="rId1"/>
          <a:stretch/>
        </p:blipFill>
        <p:spPr>
          <a:xfrm>
            <a:off x="594360" y="576000"/>
            <a:ext cx="3108240" cy="111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Image 1" descr="/mnt/data/hack_assets/natwork.png"/>
          <p:cNvPicPr/>
          <p:nvPr/>
        </p:nvPicPr>
        <p:blipFill>
          <a:blip r:embed="rId2"/>
          <a:stretch/>
        </p:blipFill>
        <p:spPr>
          <a:xfrm>
            <a:off x="7909560" y="603360"/>
            <a:ext cx="3336840" cy="10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1"/>
          <p:cNvSpPr/>
          <p:nvPr/>
        </p:nvSpPr>
        <p:spPr>
          <a:xfrm>
            <a:off x="713160" y="2011680"/>
            <a:ext cx="10743480" cy="15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Local 5G DDoS Experimentation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&amp; AI-Based Detection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767520" y="3429000"/>
            <a:ext cx="10433520" cy="10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sng">
                <a:solidFill>
                  <a:srgbClr val="c3d7e9"/>
                </a:solidFill>
                <a:effectLst/>
                <a:uFillTx/>
                <a:latin typeface="Aptos"/>
                <a:ea typeface="Aptos"/>
              </a:rPr>
              <a:t>Eryk Schiller</a:t>
            </a:r>
            <a:r>
              <a:rPr b="1" lang="en-US" sz="3600" strike="noStrike" u="none">
                <a:solidFill>
                  <a:srgbClr val="c3d7e9"/>
                </a:solidFill>
                <a:effectLst/>
                <a:uFillTx/>
                <a:latin typeface="Aptos"/>
                <a:ea typeface="Aptos"/>
              </a:rPr>
              <a:t>, Leonardo Padial, Joachim Schmidt, Anna Padée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c3d7e9"/>
                </a:solidFill>
                <a:effectLst/>
                <a:uFillTx/>
                <a:latin typeface="Aptos"/>
                <a:ea typeface="Aptos"/>
              </a:rPr>
              <a:t>HEPIA / HESSO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c3d7e9"/>
                </a:solidFill>
                <a:effectLst/>
                <a:uFillTx/>
                <a:latin typeface="Aptos"/>
                <a:ea typeface="Aptos"/>
              </a:rPr>
              <a:t>PARTICIPANT CHALLENGE  •  22 OCTOBER 2026  •  ATHENS, GREECE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731520" y="4883040"/>
            <a:ext cx="10652040" cy="758160"/>
          </a:xfrm>
          <a:prstGeom prst="roundRect">
            <a:avLst>
              <a:gd name="adj" fmla="val 12048"/>
            </a:avLst>
          </a:prstGeom>
          <a:solidFill>
            <a:srgbClr val="203e57"/>
          </a:solidFill>
          <a:ln w="12700">
            <a:solidFill>
              <a:srgbClr val="203e57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014840" y="5074920"/>
            <a:ext cx="101491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Generate  →  Capture  →  Classify  →  Mitigate  →  Share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3"/>
          <a:stretch/>
        </p:blipFill>
        <p:spPr>
          <a:xfrm>
            <a:off x="685800" y="5715000"/>
            <a:ext cx="1548720" cy="92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" descr=""/>
          <p:cNvPicPr/>
          <p:nvPr/>
        </p:nvPicPr>
        <p:blipFill>
          <a:blip r:embed="rId4"/>
          <a:stretch/>
        </p:blipFill>
        <p:spPr>
          <a:xfrm>
            <a:off x="5257800" y="5715000"/>
            <a:ext cx="160380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" descr=""/>
          <p:cNvPicPr/>
          <p:nvPr/>
        </p:nvPicPr>
        <p:blipFill>
          <a:blip r:embed="rId5"/>
          <a:stretch/>
        </p:blipFill>
        <p:spPr>
          <a:xfrm>
            <a:off x="8204760" y="5715000"/>
            <a:ext cx="3224880" cy="94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The challenge in five steps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5"/>
          <p:cNvSpPr/>
          <p:nvPr/>
        </p:nvSpPr>
        <p:spPr>
          <a:xfrm>
            <a:off x="530280" y="1545480"/>
            <a:ext cx="2075040" cy="3291120"/>
          </a:xfrm>
          <a:prstGeom prst="roundRect">
            <a:avLst>
              <a:gd name="adj" fmla="val 4405"/>
            </a:avLst>
          </a:prstGeom>
          <a:solidFill>
            <a:srgbClr val="eaf3f7"/>
          </a:solidFill>
          <a:ln w="12700">
            <a:solidFill>
              <a:srgbClr val="eaf3f7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713160" y="1801440"/>
            <a:ext cx="13708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01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7"/>
          <p:cNvSpPr/>
          <p:nvPr/>
        </p:nvSpPr>
        <p:spPr>
          <a:xfrm>
            <a:off x="685800" y="2679120"/>
            <a:ext cx="18097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RUN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685800" y="3264480"/>
            <a:ext cx="17733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Local isolated 5G testbed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9"/>
          <p:cNvSpPr/>
          <p:nvPr/>
        </p:nvSpPr>
        <p:spPr>
          <a:xfrm>
            <a:off x="2853000" y="1545480"/>
            <a:ext cx="2075040" cy="3291120"/>
          </a:xfrm>
          <a:prstGeom prst="roundRect">
            <a:avLst>
              <a:gd name="adj" fmla="val 4405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0"/>
          <p:cNvSpPr/>
          <p:nvPr/>
        </p:nvSpPr>
        <p:spPr>
          <a:xfrm>
            <a:off x="3035880" y="1801440"/>
            <a:ext cx="13708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02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1"/>
          <p:cNvSpPr/>
          <p:nvPr/>
        </p:nvSpPr>
        <p:spPr>
          <a:xfrm>
            <a:off x="3008520" y="2679120"/>
            <a:ext cx="18097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CAPTURE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2"/>
          <p:cNvSpPr/>
          <p:nvPr/>
        </p:nvSpPr>
        <p:spPr>
          <a:xfrm>
            <a:off x="3008520" y="3264480"/>
            <a:ext cx="17733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Record PCAP traffic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3"/>
          <p:cNvSpPr/>
          <p:nvPr/>
        </p:nvSpPr>
        <p:spPr>
          <a:xfrm>
            <a:off x="5175360" y="1545480"/>
            <a:ext cx="2075040" cy="3291120"/>
          </a:xfrm>
          <a:prstGeom prst="roundRect">
            <a:avLst>
              <a:gd name="adj" fmla="val 4405"/>
            </a:avLst>
          </a:prstGeom>
          <a:solidFill>
            <a:srgbClr val="eaf3f7"/>
          </a:solidFill>
          <a:ln w="12700">
            <a:solidFill>
              <a:srgbClr val="eaf3f7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5358240" y="1801440"/>
            <a:ext cx="13708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03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5"/>
          <p:cNvSpPr/>
          <p:nvPr/>
        </p:nvSpPr>
        <p:spPr>
          <a:xfrm>
            <a:off x="5330880" y="2679120"/>
            <a:ext cx="18097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DETECT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6"/>
          <p:cNvSpPr/>
          <p:nvPr/>
        </p:nvSpPr>
        <p:spPr>
          <a:xfrm>
            <a:off x="5330880" y="3264480"/>
            <a:ext cx="17733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Score with pretrained CNN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7"/>
          <p:cNvSpPr/>
          <p:nvPr/>
        </p:nvSpPr>
        <p:spPr>
          <a:xfrm>
            <a:off x="7498080" y="1545480"/>
            <a:ext cx="2075040" cy="3291120"/>
          </a:xfrm>
          <a:prstGeom prst="roundRect">
            <a:avLst>
              <a:gd name="adj" fmla="val 4405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8"/>
          <p:cNvSpPr/>
          <p:nvPr/>
        </p:nvSpPr>
        <p:spPr>
          <a:xfrm>
            <a:off x="7680960" y="1801440"/>
            <a:ext cx="13708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04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9"/>
          <p:cNvSpPr/>
          <p:nvPr/>
        </p:nvSpPr>
        <p:spPr>
          <a:xfrm>
            <a:off x="7653600" y="2679120"/>
            <a:ext cx="18097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MITIGATE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0"/>
          <p:cNvSpPr/>
          <p:nvPr/>
        </p:nvSpPr>
        <p:spPr>
          <a:xfrm>
            <a:off x="7653600" y="3264480"/>
            <a:ext cx="17733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Optional online protection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1"/>
          <p:cNvSpPr/>
          <p:nvPr/>
        </p:nvSpPr>
        <p:spPr>
          <a:xfrm>
            <a:off x="9820800" y="1545480"/>
            <a:ext cx="2075040" cy="3291120"/>
          </a:xfrm>
          <a:prstGeom prst="roundRect">
            <a:avLst>
              <a:gd name="adj" fmla="val 4405"/>
            </a:avLst>
          </a:prstGeom>
          <a:solidFill>
            <a:srgbClr val="eaf3f7"/>
          </a:solidFill>
          <a:ln w="12700">
            <a:solidFill>
              <a:srgbClr val="eaf3f7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2"/>
          <p:cNvSpPr/>
          <p:nvPr/>
        </p:nvSpPr>
        <p:spPr>
          <a:xfrm>
            <a:off x="10003680" y="1801440"/>
            <a:ext cx="13708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05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3"/>
          <p:cNvSpPr/>
          <p:nvPr/>
        </p:nvSpPr>
        <p:spPr>
          <a:xfrm>
            <a:off x="9975960" y="2679120"/>
            <a:ext cx="18097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SHARE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4"/>
          <p:cNvSpPr/>
          <p:nvPr/>
        </p:nvSpPr>
        <p:spPr>
          <a:xfrm>
            <a:off x="9975960" y="3264480"/>
            <a:ext cx="17733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Contribute to 6G-DALI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5"/>
          <p:cNvSpPr/>
          <p:nvPr/>
        </p:nvSpPr>
        <p:spPr>
          <a:xfrm>
            <a:off x="713160" y="5358240"/>
            <a:ext cx="10789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Everything runs on the participant’s own Linux laptop; no remote attack infrastructure.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One repository • two working directories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03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640080" y="1325880"/>
            <a:ext cx="10880640" cy="1032480"/>
          </a:xfrm>
          <a:prstGeom prst="roundRect">
            <a:avLst>
              <a:gd name="adj" fmla="val 8850"/>
            </a:avLst>
          </a:prstGeom>
          <a:solidFill>
            <a:srgbClr val="11233b"/>
          </a:solidFill>
          <a:ln w="12700">
            <a:solidFill>
              <a:srgbClr val="11233b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822960" y="1435680"/>
            <a:ext cx="10533240" cy="84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git clone https://github.com/Hepia/cloudnet_hackathon.git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cd cloudnet_hackathon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713160" y="2761560"/>
            <a:ext cx="5165640" cy="2395080"/>
          </a:xfrm>
          <a:prstGeom prst="roundRect">
            <a:avLst>
              <a:gd name="adj" fmla="val 3817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6272640" y="2761560"/>
            <a:ext cx="5165640" cy="2395080"/>
          </a:xfrm>
          <a:prstGeom prst="roundRect">
            <a:avLst>
              <a:gd name="adj" fmla="val 3817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9"/>
          <p:cNvSpPr/>
          <p:nvPr/>
        </p:nvSpPr>
        <p:spPr>
          <a:xfrm>
            <a:off x="951120" y="3072240"/>
            <a:ext cx="46627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infrastructure/</a:t>
            </a:r>
            <a:endParaRPr b="0" lang="en-US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951120" y="3694320"/>
            <a:ext cx="4681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Docker Compose • Open5GS • UERANSIM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Traffic generator • PCAP collection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Run ./lab.sh here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6492240" y="3072240"/>
            <a:ext cx="46627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ddos_cnn_xgb/</a:t>
            </a:r>
            <a:endParaRPr b="0" lang="en-US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2"/>
          <p:cNvSpPr/>
          <p:nvPr/>
        </p:nvSpPr>
        <p:spPr>
          <a:xfrm>
            <a:off x="6492240" y="3694320"/>
            <a:ext cx="46994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PCAP → HDF5 → 100-packet windows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Pretrained CNN • predictions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Run Python scripts here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3"/>
          <p:cNvSpPr/>
          <p:nvPr/>
        </p:nvSpPr>
        <p:spPr>
          <a:xfrm>
            <a:off x="749880" y="5532120"/>
            <a:ext cx="10057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Repository: github.com/Hepia/cloudnet_hackathon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Network architecture — from infrastructure/README.md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04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"/>
          <p:cNvSpPr/>
          <p:nvPr/>
        </p:nvSpPr>
        <p:spPr>
          <a:xfrm>
            <a:off x="567000" y="1042560"/>
            <a:ext cx="110635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Isolated Docker lab: clients and simulated UE reach services through a router; 5G user plane via gNB and UPF.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6"/>
          <p:cNvSpPr/>
          <p:nvPr/>
        </p:nvSpPr>
        <p:spPr>
          <a:xfrm>
            <a:off x="457200" y="1600200"/>
            <a:ext cx="3035160" cy="3218040"/>
          </a:xfrm>
          <a:prstGeom prst="roundRect">
            <a:avLst>
              <a:gd name="adj" fmla="val 3012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7"/>
          <p:cNvSpPr/>
          <p:nvPr/>
        </p:nvSpPr>
        <p:spPr>
          <a:xfrm>
            <a:off x="567000" y="1719000"/>
            <a:ext cx="28155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SERVERS  •  10.10.1.0/24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3740040" y="1600200"/>
            <a:ext cx="2148120" cy="3218040"/>
          </a:xfrm>
          <a:prstGeom prst="roundRect">
            <a:avLst>
              <a:gd name="adj" fmla="val 4255"/>
            </a:avLst>
          </a:prstGeom>
          <a:solidFill>
            <a:srgbClr val="fef1e8"/>
          </a:solidFill>
          <a:ln w="12700">
            <a:solidFill>
              <a:srgbClr val="fef1e8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9"/>
          <p:cNvSpPr/>
          <p:nvPr/>
        </p:nvSpPr>
        <p:spPr>
          <a:xfrm>
            <a:off x="3849480" y="1719000"/>
            <a:ext cx="1928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ROUTER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0"/>
          <p:cNvSpPr/>
          <p:nvPr/>
        </p:nvSpPr>
        <p:spPr>
          <a:xfrm>
            <a:off x="6144840" y="1600200"/>
            <a:ext cx="2541240" cy="3218040"/>
          </a:xfrm>
          <a:prstGeom prst="roundRect">
            <a:avLst>
              <a:gd name="adj" fmla="val 3597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1"/>
          <p:cNvSpPr/>
          <p:nvPr/>
        </p:nvSpPr>
        <p:spPr>
          <a:xfrm>
            <a:off x="6254640" y="1719000"/>
            <a:ext cx="2322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CLIENTS  •  10.10.2.0/24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8924400" y="1600200"/>
            <a:ext cx="2815560" cy="3218040"/>
          </a:xfrm>
          <a:prstGeom prst="roundRect">
            <a:avLst>
              <a:gd name="adj" fmla="val 3247"/>
            </a:avLst>
          </a:prstGeom>
          <a:solidFill>
            <a:srgbClr val="e8f5f1"/>
          </a:solidFill>
          <a:ln w="12700">
            <a:solidFill>
              <a:srgbClr val="e8f5f1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9034200" y="1719000"/>
            <a:ext cx="25963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5G CORE / RADIO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4"/>
          <p:cNvSpPr/>
          <p:nvPr/>
        </p:nvSpPr>
        <p:spPr>
          <a:xfrm>
            <a:off x="667440" y="2139840"/>
            <a:ext cx="1142280" cy="4748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5"/>
          <p:cNvSpPr/>
          <p:nvPr/>
        </p:nvSpPr>
        <p:spPr>
          <a:xfrm>
            <a:off x="740520" y="2167200"/>
            <a:ext cx="9961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HTTP  .10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6"/>
          <p:cNvSpPr/>
          <p:nvPr/>
        </p:nvSpPr>
        <p:spPr>
          <a:xfrm>
            <a:off x="1993320" y="2139840"/>
            <a:ext cx="1179000" cy="4748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7"/>
          <p:cNvSpPr/>
          <p:nvPr/>
        </p:nvSpPr>
        <p:spPr>
          <a:xfrm>
            <a:off x="2066400" y="2167200"/>
            <a:ext cx="1032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MQTT  .20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8"/>
          <p:cNvSpPr/>
          <p:nvPr/>
        </p:nvSpPr>
        <p:spPr>
          <a:xfrm>
            <a:off x="667440" y="2761560"/>
            <a:ext cx="1142280" cy="4748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9"/>
          <p:cNvSpPr/>
          <p:nvPr/>
        </p:nvSpPr>
        <p:spPr>
          <a:xfrm>
            <a:off x="740520" y="2788920"/>
            <a:ext cx="9961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Video  .30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"/>
          <p:cNvSpPr/>
          <p:nvPr/>
        </p:nvSpPr>
        <p:spPr>
          <a:xfrm>
            <a:off x="1993320" y="2761560"/>
            <a:ext cx="1179000" cy="4748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1"/>
          <p:cNvSpPr/>
          <p:nvPr/>
        </p:nvSpPr>
        <p:spPr>
          <a:xfrm>
            <a:off x="2066400" y="2788920"/>
            <a:ext cx="1032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iperf3  .40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2"/>
          <p:cNvSpPr/>
          <p:nvPr/>
        </p:nvSpPr>
        <p:spPr>
          <a:xfrm>
            <a:off x="1298520" y="3465720"/>
            <a:ext cx="1352520" cy="5846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3"/>
          <p:cNvSpPr/>
          <p:nvPr/>
        </p:nvSpPr>
        <p:spPr>
          <a:xfrm>
            <a:off x="1371600" y="3493080"/>
            <a:ext cx="1206360" cy="52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Custom  .50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4"/>
          <p:cNvSpPr/>
          <p:nvPr/>
        </p:nvSpPr>
        <p:spPr>
          <a:xfrm>
            <a:off x="4005000" y="2578680"/>
            <a:ext cx="1617840" cy="96840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5"/>
          <p:cNvSpPr/>
          <p:nvPr/>
        </p:nvSpPr>
        <p:spPr>
          <a:xfrm>
            <a:off x="4078080" y="2606040"/>
            <a:ext cx="147132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router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10.10.1.1 / 10.10.2.1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6"/>
          <p:cNvSpPr/>
          <p:nvPr/>
        </p:nvSpPr>
        <p:spPr>
          <a:xfrm>
            <a:off x="6318360" y="2176200"/>
            <a:ext cx="2166480" cy="4748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7"/>
          <p:cNvSpPr/>
          <p:nvPr/>
        </p:nvSpPr>
        <p:spPr>
          <a:xfrm>
            <a:off x="6391800" y="2203560"/>
            <a:ext cx="2019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HTTP client .10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8"/>
          <p:cNvSpPr/>
          <p:nvPr/>
        </p:nvSpPr>
        <p:spPr>
          <a:xfrm>
            <a:off x="6318360" y="2816280"/>
            <a:ext cx="2166480" cy="4748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9"/>
          <p:cNvSpPr/>
          <p:nvPr/>
        </p:nvSpPr>
        <p:spPr>
          <a:xfrm>
            <a:off x="6391800" y="2843640"/>
            <a:ext cx="2019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MQTT client .20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0"/>
          <p:cNvSpPr/>
          <p:nvPr/>
        </p:nvSpPr>
        <p:spPr>
          <a:xfrm>
            <a:off x="6318360" y="3447360"/>
            <a:ext cx="2166480" cy="4748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31"/>
          <p:cNvSpPr/>
          <p:nvPr/>
        </p:nvSpPr>
        <p:spPr>
          <a:xfrm>
            <a:off x="6391800" y="3474720"/>
            <a:ext cx="2019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Video client .30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2"/>
          <p:cNvSpPr/>
          <p:nvPr/>
        </p:nvSpPr>
        <p:spPr>
          <a:xfrm>
            <a:off x="6574680" y="4142160"/>
            <a:ext cx="1681920" cy="44748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3"/>
          <p:cNvSpPr/>
          <p:nvPr/>
        </p:nvSpPr>
        <p:spPr>
          <a:xfrm>
            <a:off x="6647760" y="4169520"/>
            <a:ext cx="1535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UPF .100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4"/>
          <p:cNvSpPr/>
          <p:nvPr/>
        </p:nvSpPr>
        <p:spPr>
          <a:xfrm>
            <a:off x="9189720" y="2048400"/>
            <a:ext cx="2276280" cy="630360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5"/>
          <p:cNvSpPr/>
          <p:nvPr/>
        </p:nvSpPr>
        <p:spPr>
          <a:xfrm>
            <a:off x="9262800" y="2075760"/>
            <a:ext cx="212976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Open5GS core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10.10.3.0/24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36"/>
          <p:cNvSpPr/>
          <p:nvPr/>
        </p:nvSpPr>
        <p:spPr>
          <a:xfrm>
            <a:off x="9189720" y="3017520"/>
            <a:ext cx="2276280" cy="630360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7"/>
          <p:cNvSpPr/>
          <p:nvPr/>
        </p:nvSpPr>
        <p:spPr>
          <a:xfrm>
            <a:off x="9262800" y="3044880"/>
            <a:ext cx="212976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UERANSIM gNB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10.10.3.30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8"/>
          <p:cNvSpPr/>
          <p:nvPr/>
        </p:nvSpPr>
        <p:spPr>
          <a:xfrm>
            <a:off x="9125640" y="3940920"/>
            <a:ext cx="2404080" cy="630360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9"/>
          <p:cNvSpPr/>
          <p:nvPr/>
        </p:nvSpPr>
        <p:spPr>
          <a:xfrm>
            <a:off x="9198720" y="3968640"/>
            <a:ext cx="22579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UE + custom-client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10.45.0.x via tunnel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6"/>
          <p:cNvSpPr/>
          <p:nvPr/>
        </p:nvSpPr>
        <p:spPr>
          <a:xfrm>
            <a:off x="631080" y="5276160"/>
            <a:ext cx="1097208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Capture on router (server and client interfaces), optionally UPF and gNB. PCAP files → infrastructure/captures/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Laptop readiness • prepare before the event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05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5"/>
          <p:cNvSpPr/>
          <p:nvPr/>
        </p:nvSpPr>
        <p:spPr>
          <a:xfrm>
            <a:off x="612720" y="1234440"/>
            <a:ext cx="2065680" cy="538920"/>
          </a:xfrm>
          <a:prstGeom prst="roundRect">
            <a:avLst>
              <a:gd name="adj" fmla="val 16949"/>
            </a:avLst>
          </a:prstGeom>
          <a:solidFill>
            <a:srgbClr val="e6eff4"/>
          </a:solidFill>
          <a:ln w="12700">
            <a:solidFill>
              <a:srgbClr val="e6eff4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6"/>
          <p:cNvSpPr/>
          <p:nvPr/>
        </p:nvSpPr>
        <p:spPr>
          <a:xfrm>
            <a:off x="2697480" y="1234440"/>
            <a:ext cx="8832240" cy="53892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758880" y="1307520"/>
            <a:ext cx="179136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HOST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8"/>
          <p:cNvSpPr/>
          <p:nvPr/>
        </p:nvSpPr>
        <p:spPr>
          <a:xfrm>
            <a:off x="2926080" y="1307520"/>
            <a:ext cx="826560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Native Linux x86_64 / amd64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9"/>
          <p:cNvSpPr/>
          <p:nvPr/>
        </p:nvSpPr>
        <p:spPr>
          <a:xfrm>
            <a:off x="612720" y="1920240"/>
            <a:ext cx="2065680" cy="53892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0"/>
          <p:cNvSpPr/>
          <p:nvPr/>
        </p:nvSpPr>
        <p:spPr>
          <a:xfrm>
            <a:off x="2697480" y="1920240"/>
            <a:ext cx="8832240" cy="538920"/>
          </a:xfrm>
          <a:prstGeom prst="roundRect">
            <a:avLst>
              <a:gd name="adj" fmla="val 16949"/>
            </a:avLst>
          </a:prstGeom>
          <a:solidFill>
            <a:srgbClr val="f7f9fb"/>
          </a:solidFill>
          <a:ln w="12700">
            <a:solidFill>
              <a:srgbClr val="f7f9fb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758880" y="1993320"/>
            <a:ext cx="179136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DOCKER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2"/>
          <p:cNvSpPr/>
          <p:nvPr/>
        </p:nvSpPr>
        <p:spPr>
          <a:xfrm>
            <a:off x="2926080" y="1993320"/>
            <a:ext cx="826560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Engine 26+ • Compose v2 • recent Buildx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3"/>
          <p:cNvSpPr/>
          <p:nvPr/>
        </p:nvSpPr>
        <p:spPr>
          <a:xfrm>
            <a:off x="612720" y="2606040"/>
            <a:ext cx="2065680" cy="538920"/>
          </a:xfrm>
          <a:prstGeom prst="roundRect">
            <a:avLst>
              <a:gd name="adj" fmla="val 16949"/>
            </a:avLst>
          </a:prstGeom>
          <a:solidFill>
            <a:srgbClr val="e6eff4"/>
          </a:solidFill>
          <a:ln w="12700">
            <a:solidFill>
              <a:srgbClr val="e6eff4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4"/>
          <p:cNvSpPr/>
          <p:nvPr/>
        </p:nvSpPr>
        <p:spPr>
          <a:xfrm>
            <a:off x="2697480" y="2606040"/>
            <a:ext cx="8832240" cy="53892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758880" y="2679120"/>
            <a:ext cx="179136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KERNEL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6"/>
          <p:cNvSpPr/>
          <p:nvPr/>
        </p:nvSpPr>
        <p:spPr>
          <a:xfrm>
            <a:off x="2926080" y="2679120"/>
            <a:ext cx="826560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/dev/net/tun • SCTP support • NET_ADMIN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7"/>
          <p:cNvSpPr/>
          <p:nvPr/>
        </p:nvSpPr>
        <p:spPr>
          <a:xfrm>
            <a:off x="612720" y="3291840"/>
            <a:ext cx="2065680" cy="53892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8"/>
          <p:cNvSpPr/>
          <p:nvPr/>
        </p:nvSpPr>
        <p:spPr>
          <a:xfrm>
            <a:off x="2697480" y="3291840"/>
            <a:ext cx="8832240" cy="538920"/>
          </a:xfrm>
          <a:prstGeom prst="roundRect">
            <a:avLst>
              <a:gd name="adj" fmla="val 16949"/>
            </a:avLst>
          </a:prstGeom>
          <a:solidFill>
            <a:srgbClr val="f7f9fb"/>
          </a:solidFill>
          <a:ln w="12700">
            <a:solidFill>
              <a:srgbClr val="f7f9fb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758880" y="3364920"/>
            <a:ext cx="179136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SIZING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0"/>
          <p:cNvSpPr/>
          <p:nvPr/>
        </p:nvSpPr>
        <p:spPr>
          <a:xfrm>
            <a:off x="2926080" y="3364920"/>
            <a:ext cx="826560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Plan for 4 CPU / 8 GB RAM / 15 GB free minimum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1"/>
          <p:cNvSpPr/>
          <p:nvPr/>
        </p:nvSpPr>
        <p:spPr>
          <a:xfrm>
            <a:off x="612720" y="3977640"/>
            <a:ext cx="2065680" cy="538920"/>
          </a:xfrm>
          <a:prstGeom prst="roundRect">
            <a:avLst>
              <a:gd name="adj" fmla="val 16949"/>
            </a:avLst>
          </a:prstGeom>
          <a:solidFill>
            <a:srgbClr val="e6eff4"/>
          </a:solidFill>
          <a:ln w="12700">
            <a:solidFill>
              <a:srgbClr val="e6eff4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2"/>
          <p:cNvSpPr/>
          <p:nvPr/>
        </p:nvSpPr>
        <p:spPr>
          <a:xfrm>
            <a:off x="2697480" y="3977640"/>
            <a:ext cx="8832240" cy="53892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758880" y="4050720"/>
            <a:ext cx="179136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RECOMMENDED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4"/>
          <p:cNvSpPr/>
          <p:nvPr/>
        </p:nvSpPr>
        <p:spPr>
          <a:xfrm>
            <a:off x="2926080" y="4050720"/>
            <a:ext cx="826560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8+ CPU cores • 16 GB RAM • 30 GB SSD free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5"/>
          <p:cNvSpPr/>
          <p:nvPr/>
        </p:nvSpPr>
        <p:spPr>
          <a:xfrm>
            <a:off x="612720" y="4663440"/>
            <a:ext cx="2065680" cy="53892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6"/>
          <p:cNvSpPr/>
          <p:nvPr/>
        </p:nvSpPr>
        <p:spPr>
          <a:xfrm>
            <a:off x="2697480" y="4663440"/>
            <a:ext cx="8832240" cy="538920"/>
          </a:xfrm>
          <a:prstGeom prst="roundRect">
            <a:avLst>
              <a:gd name="adj" fmla="val 16949"/>
            </a:avLst>
          </a:prstGeom>
          <a:solidFill>
            <a:srgbClr val="f7f9fb"/>
          </a:solidFill>
          <a:ln w="12700">
            <a:solidFill>
              <a:srgbClr val="f7f9fb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758880" y="4736520"/>
            <a:ext cx="179136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NETWORK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8"/>
          <p:cNvSpPr/>
          <p:nvPr/>
        </p:nvSpPr>
        <p:spPr>
          <a:xfrm>
            <a:off x="2926080" y="4736520"/>
            <a:ext cx="826560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Internet for initial build; isolated at runtime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9"/>
          <p:cNvSpPr/>
          <p:nvPr/>
        </p:nvSpPr>
        <p:spPr>
          <a:xfrm>
            <a:off x="713160" y="5715000"/>
            <a:ext cx="10880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Check for address conflicts: 10.10.1–4.0/24 and 10.45.0.0/16. Laptop sizing is an estimate, not a benchmark.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Start the lab and capture PCAPs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5"/>
          <p:cNvSpPr/>
          <p:nvPr/>
        </p:nvSpPr>
        <p:spPr>
          <a:xfrm>
            <a:off x="612720" y="1271160"/>
            <a:ext cx="7085880" cy="4361040"/>
          </a:xfrm>
          <a:prstGeom prst="roundRect">
            <a:avLst>
              <a:gd name="adj" fmla="val 2096"/>
            </a:avLst>
          </a:prstGeom>
          <a:solidFill>
            <a:srgbClr val="11233b"/>
          </a:solidFill>
          <a:ln w="12700">
            <a:solidFill>
              <a:srgbClr val="11233b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795600" y="1380600"/>
            <a:ext cx="6738480" cy="41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cd infrastructure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up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status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test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pcap start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custom -s 10.10.1.0/24 -t 5 -d 10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pcap stats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pcap stop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ls captures/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7"/>
          <p:cNvSpPr/>
          <p:nvPr/>
        </p:nvSpPr>
        <p:spPr>
          <a:xfrm>
            <a:off x="8010000" y="1271160"/>
            <a:ext cx="3501360" cy="4379400"/>
          </a:xfrm>
          <a:prstGeom prst="roundRect">
            <a:avLst>
              <a:gd name="adj" fmla="val 2611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8275320" y="1508760"/>
            <a:ext cx="2879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Challenge scenario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8284320" y="2066400"/>
            <a:ext cx="2898000" cy="31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Mirai-inspired traffic within isolated testbed networks only.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10.10.1.0/24 is the intended randomized destination range.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Check the provided custom generator implementation: the public README documents -s as a host and -d as per-request delay.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PCAP collection points and baseline traffic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07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640080" y="1362600"/>
            <a:ext cx="10862280" cy="1059840"/>
          </a:xfrm>
          <a:prstGeom prst="roundRect">
            <a:avLst>
              <a:gd name="adj" fmla="val 8621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6"/>
          <p:cNvSpPr/>
          <p:nvPr/>
        </p:nvSpPr>
        <p:spPr>
          <a:xfrm>
            <a:off x="850320" y="1490400"/>
            <a:ext cx="12704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ROUTER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2404800" y="1472040"/>
            <a:ext cx="5101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./lab.sh pcap start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2423160" y="1920240"/>
            <a:ext cx="866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Both server-side and client-side interfaces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9"/>
          <p:cNvSpPr/>
          <p:nvPr/>
        </p:nvSpPr>
        <p:spPr>
          <a:xfrm>
            <a:off x="640080" y="2670120"/>
            <a:ext cx="10862280" cy="1059840"/>
          </a:xfrm>
          <a:prstGeom prst="roundRect">
            <a:avLst>
              <a:gd name="adj" fmla="val 8621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0"/>
          <p:cNvSpPr/>
          <p:nvPr/>
        </p:nvSpPr>
        <p:spPr>
          <a:xfrm>
            <a:off x="850320" y="2797920"/>
            <a:ext cx="12704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UPF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1"/>
          <p:cNvSpPr/>
          <p:nvPr/>
        </p:nvSpPr>
        <p:spPr>
          <a:xfrm>
            <a:off x="2404800" y="2779920"/>
            <a:ext cx="5101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./lab.sh pcap start upf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2"/>
          <p:cNvSpPr/>
          <p:nvPr/>
        </p:nvSpPr>
        <p:spPr>
          <a:xfrm>
            <a:off x="2423160" y="3227760"/>
            <a:ext cx="866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N3, N6 and ogstun / decapsulation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3"/>
          <p:cNvSpPr/>
          <p:nvPr/>
        </p:nvSpPr>
        <p:spPr>
          <a:xfrm>
            <a:off x="640080" y="3977640"/>
            <a:ext cx="10862280" cy="1059840"/>
          </a:xfrm>
          <a:prstGeom prst="roundRect">
            <a:avLst>
              <a:gd name="adj" fmla="val 8621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4"/>
          <p:cNvSpPr/>
          <p:nvPr/>
        </p:nvSpPr>
        <p:spPr>
          <a:xfrm>
            <a:off x="850320" y="4105800"/>
            <a:ext cx="12704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gNB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5"/>
          <p:cNvSpPr/>
          <p:nvPr/>
        </p:nvSpPr>
        <p:spPr>
          <a:xfrm>
            <a:off x="2404800" y="4087440"/>
            <a:ext cx="5101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./lab.sh pcap start gnb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6"/>
          <p:cNvSpPr/>
          <p:nvPr/>
        </p:nvSpPr>
        <p:spPr>
          <a:xfrm>
            <a:off x="2423160" y="4535280"/>
            <a:ext cx="866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Radio and core network interfaces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7"/>
          <p:cNvSpPr/>
          <p:nvPr/>
        </p:nvSpPr>
        <p:spPr>
          <a:xfrm>
            <a:off x="749880" y="5678280"/>
            <a:ext cx="10697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Generate legitimate background traffic with the README’s HTTP, MQTT, RTP/video and iperf3 commands. Stop each capture point separately.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Offline detection • three-command pipeline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08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"/>
          <p:cNvSpPr/>
          <p:nvPr/>
        </p:nvSpPr>
        <p:spPr>
          <a:xfrm>
            <a:off x="603360" y="1188720"/>
            <a:ext cx="10999440" cy="1508040"/>
          </a:xfrm>
          <a:prstGeom prst="roundRect">
            <a:avLst>
              <a:gd name="adj" fmla="val 6061"/>
            </a:avLst>
          </a:prstGeom>
          <a:solidFill>
            <a:srgbClr val="11233b"/>
          </a:solidFill>
          <a:ln w="12700">
            <a:solidFill>
              <a:srgbClr val="11233b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6"/>
          <p:cNvSpPr/>
          <p:nvPr/>
        </p:nvSpPr>
        <p:spPr>
          <a:xfrm>
            <a:off x="786240" y="1298520"/>
            <a:ext cx="10652040" cy="13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cd ../ddos_cnn_xgb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python3 -m venv .venv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.venv/bin/python -m pip install numpy h5py tensorflow scapy scikit-learn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unzip best_run.zip -d best_run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mkdir -p pcaps tf_dataset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7"/>
          <p:cNvSpPr/>
          <p:nvPr/>
        </p:nvSpPr>
        <p:spPr>
          <a:xfrm>
            <a:off x="631080" y="2907720"/>
            <a:ext cx="10917360" cy="913680"/>
          </a:xfrm>
          <a:prstGeom prst="roundRect">
            <a:avLst>
              <a:gd name="adj" fmla="val 10000"/>
            </a:avLst>
          </a:prstGeom>
          <a:solidFill>
            <a:srgbClr val="edf5f8"/>
          </a:solidFill>
          <a:ln w="12700">
            <a:solidFill>
              <a:srgbClr val="edf5f8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8"/>
          <p:cNvSpPr/>
          <p:nvPr/>
        </p:nvSpPr>
        <p:spPr>
          <a:xfrm>
            <a:off x="804600" y="301752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01  CONVERT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9"/>
          <p:cNvSpPr/>
          <p:nvPr/>
        </p:nvSpPr>
        <p:spPr>
          <a:xfrm>
            <a:off x="2752200" y="2990160"/>
            <a:ext cx="8411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convert_pcap_to_h5.py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2761560" y="3319200"/>
            <a:ext cx="8475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--input pcaps --output tf_dataset/pckt.h5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--packet-length 64 --target-ip 10.45.0.2 --ddos-name router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1"/>
          <p:cNvSpPr/>
          <p:nvPr/>
        </p:nvSpPr>
        <p:spPr>
          <a:xfrm>
            <a:off x="631080" y="3913560"/>
            <a:ext cx="10917360" cy="91368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2"/>
          <p:cNvSpPr/>
          <p:nvPr/>
        </p:nvSpPr>
        <p:spPr>
          <a:xfrm>
            <a:off x="804600" y="402336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02  WINDOW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3"/>
          <p:cNvSpPr/>
          <p:nvPr/>
        </p:nvSpPr>
        <p:spPr>
          <a:xfrm>
            <a:off x="2752200" y="3996000"/>
            <a:ext cx="8411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split_h5_into_windows.py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4"/>
          <p:cNvSpPr/>
          <p:nvPr/>
        </p:nvSpPr>
        <p:spPr>
          <a:xfrm>
            <a:off x="2761560" y="4325040"/>
            <a:ext cx="8475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--input tf_dataset/pckt.h5 --output tf_dataset/masked.h5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--window 100 --packet-length 64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5"/>
          <p:cNvSpPr/>
          <p:nvPr/>
        </p:nvSpPr>
        <p:spPr>
          <a:xfrm>
            <a:off x="631080" y="4919400"/>
            <a:ext cx="10917360" cy="913680"/>
          </a:xfrm>
          <a:prstGeom prst="roundRect">
            <a:avLst>
              <a:gd name="adj" fmla="val 10000"/>
            </a:avLst>
          </a:prstGeom>
          <a:solidFill>
            <a:srgbClr val="edf5f8"/>
          </a:solidFill>
          <a:ln w="12700">
            <a:solidFill>
              <a:srgbClr val="edf5f8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6"/>
          <p:cNvSpPr/>
          <p:nvPr/>
        </p:nvSpPr>
        <p:spPr>
          <a:xfrm>
            <a:off x="804600" y="502920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03  CLASSIFY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7"/>
          <p:cNvSpPr/>
          <p:nvPr/>
        </p:nvSpPr>
        <p:spPr>
          <a:xfrm>
            <a:off x="2752200" y="5001840"/>
            <a:ext cx="8411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classify_h5.py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8"/>
          <p:cNvSpPr/>
          <p:nvPr/>
        </p:nvSpPr>
        <p:spPr>
          <a:xfrm>
            <a:off x="2761560" y="5330880"/>
            <a:ext cx="8475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--input tf_dataset/masked.h5 --model-dir best_run/run_003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--output tf_dataset/predictions.h5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Interpret results and validate assumptions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09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5"/>
          <p:cNvSpPr/>
          <p:nvPr/>
        </p:nvSpPr>
        <p:spPr>
          <a:xfrm>
            <a:off x="786240" y="145404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1033200" y="1334880"/>
            <a:ext cx="10304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Packets flagged DDoS: fraction with CNN probability &gt; 0.5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7"/>
          <p:cNvSpPr/>
          <p:nvPr/>
        </p:nvSpPr>
        <p:spPr>
          <a:xfrm>
            <a:off x="786240" y="228600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8"/>
          <p:cNvSpPr/>
          <p:nvPr/>
        </p:nvSpPr>
        <p:spPr>
          <a:xfrm>
            <a:off x="1033200" y="2167200"/>
            <a:ext cx="10304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Windows flagged attack: fraction with &gt; 50% packets flagged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9"/>
          <p:cNvSpPr/>
          <p:nvPr/>
        </p:nvSpPr>
        <p:spPr>
          <a:xfrm>
            <a:off x="786240" y="311796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0"/>
          <p:cNvSpPr/>
          <p:nvPr/>
        </p:nvSpPr>
        <p:spPr>
          <a:xfrm>
            <a:off x="1033200" y="2999160"/>
            <a:ext cx="10304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Optional threshold: --threshold 0.8 (trade-off with missed attacks)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1"/>
          <p:cNvSpPr/>
          <p:nvPr/>
        </p:nvSpPr>
        <p:spPr>
          <a:xfrm>
            <a:off x="786240" y="395028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2"/>
          <p:cNvSpPr/>
          <p:nvPr/>
        </p:nvSpPr>
        <p:spPr>
          <a:xfrm>
            <a:off x="1033200" y="3831480"/>
            <a:ext cx="10304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Classifier outputs: probabilities and 0/1 decisions in predictions.h5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3"/>
          <p:cNvSpPr/>
          <p:nvPr/>
        </p:nvSpPr>
        <p:spPr>
          <a:xfrm>
            <a:off x="713160" y="5230440"/>
            <a:ext cx="10789200" cy="666720"/>
          </a:xfrm>
          <a:prstGeom prst="roundRect">
            <a:avLst>
              <a:gd name="adj" fmla="val 13699"/>
            </a:avLst>
          </a:prstGeom>
          <a:solidFill>
            <a:srgbClr val="fff1e8"/>
          </a:solidFill>
          <a:ln w="12700">
            <a:solidFill>
              <a:srgbClr val="fff1e8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4"/>
          <p:cNvSpPr/>
          <p:nvPr/>
        </p:nvSpPr>
        <p:spPr>
          <a:xfrm>
            <a:off x="923400" y="5330880"/>
            <a:ext cx="10323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8a4c26"/>
                </a:solidFill>
                <a:effectLst/>
                <a:uFillTx/>
                <a:latin typeface="Aptos"/>
                <a:ea typeface="Aptos"/>
              </a:rPr>
              <a:t>Important: automatic ground-truth labels depend on BOTH PCAP filename substring and IP match; verify them before interpreting accuracy.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Bonus: real-time defense • final deliverables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10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548640" y="1307520"/>
            <a:ext cx="2660040" cy="1325160"/>
          </a:xfrm>
          <a:prstGeom prst="roundRect">
            <a:avLst>
              <a:gd name="adj" fmla="val 6897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713160" y="1563480"/>
            <a:ext cx="2285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LIVE CAPTURE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7"/>
          <p:cNvSpPr/>
          <p:nvPr/>
        </p:nvSpPr>
        <p:spPr>
          <a:xfrm>
            <a:off x="713160" y="1965960"/>
            <a:ext cx="230364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Stream packet observations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8"/>
          <p:cNvSpPr/>
          <p:nvPr/>
        </p:nvSpPr>
        <p:spPr>
          <a:xfrm>
            <a:off x="3456360" y="1307520"/>
            <a:ext cx="2660040" cy="1325160"/>
          </a:xfrm>
          <a:prstGeom prst="roundRect">
            <a:avLst>
              <a:gd name="adj" fmla="val 6897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3620880" y="1563480"/>
            <a:ext cx="2285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INFERENCE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0"/>
          <p:cNvSpPr/>
          <p:nvPr/>
        </p:nvSpPr>
        <p:spPr>
          <a:xfrm>
            <a:off x="3620880" y="1965960"/>
            <a:ext cx="230364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Apply 64-byte / 100-packet preprocessing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1"/>
          <p:cNvSpPr/>
          <p:nvPr/>
        </p:nvSpPr>
        <p:spPr>
          <a:xfrm>
            <a:off x="6364080" y="1307520"/>
            <a:ext cx="2660040" cy="1325160"/>
          </a:xfrm>
          <a:prstGeom prst="roundRect">
            <a:avLst>
              <a:gd name="adj" fmla="val 6897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6528960" y="1563480"/>
            <a:ext cx="2285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DECISION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6528960" y="1965960"/>
            <a:ext cx="230364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Identify suspicious sources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9272160" y="1307520"/>
            <a:ext cx="2660040" cy="1325160"/>
          </a:xfrm>
          <a:prstGeom prst="roundRect">
            <a:avLst>
              <a:gd name="adj" fmla="val 6897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5"/>
          <p:cNvSpPr/>
          <p:nvPr/>
        </p:nvSpPr>
        <p:spPr>
          <a:xfrm>
            <a:off x="9436680" y="1563480"/>
            <a:ext cx="2285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MITIGATION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9436680" y="1965960"/>
            <a:ext cx="230364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Block or isolate source inside the lab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685800" y="3017520"/>
            <a:ext cx="9691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Participant deliverables</a:t>
            </a:r>
            <a:endParaRPr b="0" lang="en-US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8"/>
          <p:cNvSpPr/>
          <p:nvPr/>
        </p:nvSpPr>
        <p:spPr>
          <a:xfrm>
            <a:off x="786240" y="369432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1033200" y="3575160"/>
            <a:ext cx="10332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Documented PCAP captures and scenario / capture-point metadata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0"/>
          <p:cNvSpPr/>
          <p:nvPr/>
        </p:nvSpPr>
        <p:spPr>
          <a:xfrm>
            <a:off x="786240" y="426096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1"/>
          <p:cNvSpPr/>
          <p:nvPr/>
        </p:nvSpPr>
        <p:spPr>
          <a:xfrm>
            <a:off x="1033200" y="4142160"/>
            <a:ext cx="10332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CNN detection results with verified labels where possible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2"/>
          <p:cNvSpPr/>
          <p:nvPr/>
        </p:nvSpPr>
        <p:spPr>
          <a:xfrm>
            <a:off x="786240" y="482796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3"/>
          <p:cNvSpPr/>
          <p:nvPr/>
        </p:nvSpPr>
        <p:spPr>
          <a:xfrm>
            <a:off x="1033200" y="4709160"/>
            <a:ext cx="10332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Optional live defense: latency, effectiveness, false positives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4"/>
          <p:cNvSpPr/>
          <p:nvPr/>
        </p:nvSpPr>
        <p:spPr>
          <a:xfrm>
            <a:off x="786240" y="539496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5"/>
          <p:cNvSpPr/>
          <p:nvPr/>
        </p:nvSpPr>
        <p:spPr>
          <a:xfrm>
            <a:off x="1033200" y="5276160"/>
            <a:ext cx="10332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6G-DALI dataset contribution through the approved EDC workflow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6"/>
          <p:cNvSpPr/>
          <p:nvPr/>
        </p:nvSpPr>
        <p:spPr>
          <a:xfrm>
            <a:off x="722520" y="6126480"/>
            <a:ext cx="10926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Raw PCAP support is not confirmed by the integration guide; coordinate accepted submission format with organizers.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Scale up — generate a reproducible dataset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11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5"/>
          <p:cNvSpPr/>
          <p:nvPr/>
        </p:nvSpPr>
        <p:spPr>
          <a:xfrm>
            <a:off x="612720" y="1271160"/>
            <a:ext cx="7085880" cy="4361040"/>
          </a:xfrm>
          <a:prstGeom prst="roundRect">
            <a:avLst>
              <a:gd name="adj" fmla="val 2096"/>
            </a:avLst>
          </a:prstGeom>
          <a:solidFill>
            <a:srgbClr val="11233b"/>
          </a:solidFill>
          <a:ln w="12700">
            <a:solidFill>
              <a:srgbClr val="11233b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6"/>
          <p:cNvSpPr/>
          <p:nvPr/>
        </p:nvSpPr>
        <p:spPr>
          <a:xfrm>
            <a:off x="795600" y="1380600"/>
            <a:ext cx="6738480" cy="41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cd infrastructure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up          # patched lab (Mirai + uplink fix)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status      # wait: UE 10.45.0.2, bot on :23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# capture benign + Mirai together, one pass: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../datasets/generate_final.sh big 15 60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# -&gt; datasets/pcap_big/  (~15 GB, snaplen 128)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ls -lh ../datasets/pcap_big/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# alternatives: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#   generate_m.sh  ·  capture_attack.sh + capture_benign.sh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7"/>
          <p:cNvSpPr/>
          <p:nvPr/>
        </p:nvSpPr>
        <p:spPr>
          <a:xfrm>
            <a:off x="8010000" y="1271160"/>
            <a:ext cx="3501360" cy="4379400"/>
          </a:xfrm>
          <a:prstGeom prst="roundRect">
            <a:avLst>
              <a:gd name="adj" fmla="val 2611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8"/>
          <p:cNvSpPr/>
          <p:nvPr/>
        </p:nvSpPr>
        <p:spPr>
          <a:xfrm>
            <a:off x="8275320" y="1508760"/>
            <a:ext cx="2879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Realistic by design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9"/>
          <p:cNvSpPr/>
          <p:nvPr/>
        </p:nvSpPr>
        <p:spPr>
          <a:xfrm>
            <a:off x="8284320" y="2066400"/>
            <a:ext cx="2898000" cy="31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Benign app mix (HTTP, MQTT, video, iperf3) and the Mirai SYN flood run together on the same uplink.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The attack share fluctuates per chunk but averages ~30% across the 15 GB capture.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The UERANSIM nr-ue uplink is patched (bounded queue) so the flood no longer wedges the UE tunnel.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Train and evaluate the per-packet detector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12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5"/>
          <p:cNvSpPr/>
          <p:nvPr/>
        </p:nvSpPr>
        <p:spPr>
          <a:xfrm>
            <a:off x="603360" y="1188720"/>
            <a:ext cx="10999440" cy="1508040"/>
          </a:xfrm>
          <a:prstGeom prst="roundRect">
            <a:avLst>
              <a:gd name="adj" fmla="val 6061"/>
            </a:avLst>
          </a:prstGeom>
          <a:solidFill>
            <a:srgbClr val="11233b"/>
          </a:solidFill>
          <a:ln w="12700">
            <a:solidFill>
              <a:srgbClr val="11233b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6"/>
          <p:cNvSpPr/>
          <p:nvPr/>
        </p:nvSpPr>
        <p:spPr>
          <a:xfrm>
            <a:off x="786240" y="1298520"/>
            <a:ext cx="10652040" cy="13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cd ddos_cnn_xgb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python3 -m venv .venv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.venv/bin/python -m pip install tensorflow h5py numpy scikit-learn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# one command does compose + train + compare: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./run_final_pipeline.sh ../datasets/pcap_big bigrun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7"/>
          <p:cNvSpPr/>
          <p:nvPr/>
        </p:nvSpPr>
        <p:spPr>
          <a:xfrm>
            <a:off x="631080" y="2907720"/>
            <a:ext cx="10917360" cy="913680"/>
          </a:xfrm>
          <a:prstGeom prst="roundRect">
            <a:avLst>
              <a:gd name="adj" fmla="val 10000"/>
            </a:avLst>
          </a:prstGeom>
          <a:solidFill>
            <a:srgbClr val="edf5f8"/>
          </a:solidFill>
          <a:ln w="12700">
            <a:solidFill>
              <a:srgbClr val="edf5f8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8"/>
          <p:cNvSpPr/>
          <p:nvPr/>
        </p:nvSpPr>
        <p:spPr>
          <a:xfrm>
            <a:off x="804600" y="301752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01  COMPOSE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9"/>
          <p:cNvSpPr/>
          <p:nvPr/>
        </p:nvSpPr>
        <p:spPr>
          <a:xfrm>
            <a:off x="2752200" y="2990160"/>
            <a:ext cx="8411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build_mixed_windows.py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0"/>
          <p:cNvSpPr/>
          <p:nvPr/>
        </p:nvSpPr>
        <p:spPr>
          <a:xfrm>
            <a:off x="2761560" y="3319200"/>
            <a:ext cx="8475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-i ../datasets/pcap_big -o bigrun/mixed_masked.h5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-w 100 -p 64 --attack-frac 0.30   (fluctuating, address-randomized)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1"/>
          <p:cNvSpPr/>
          <p:nvPr/>
        </p:nvSpPr>
        <p:spPr>
          <a:xfrm>
            <a:off x="631080" y="3913560"/>
            <a:ext cx="10917360" cy="91368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2"/>
          <p:cNvSpPr/>
          <p:nvPr/>
        </p:nvSpPr>
        <p:spPr>
          <a:xfrm>
            <a:off x="804600" y="402336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02  TRAIN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3"/>
          <p:cNvSpPr/>
          <p:nvPr/>
        </p:nvSpPr>
        <p:spPr>
          <a:xfrm>
            <a:off x="2752200" y="3996000"/>
            <a:ext cx="8411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train_model.py --arch perpacket --loss bce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4"/>
          <p:cNvSpPr/>
          <p:nvPr/>
        </p:nvSpPr>
        <p:spPr>
          <a:xfrm>
            <a:off x="2761560" y="4325040"/>
            <a:ext cx="8475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-i bigrun/mixed_masked.h5 -o bigrun/perpacket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--train-cap 150000 --epochs 8   (per-packet head, ~38k params)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5"/>
          <p:cNvSpPr/>
          <p:nvPr/>
        </p:nvSpPr>
        <p:spPr>
          <a:xfrm>
            <a:off x="631080" y="4919400"/>
            <a:ext cx="10917360" cy="913680"/>
          </a:xfrm>
          <a:prstGeom prst="roundRect">
            <a:avLst>
              <a:gd name="adj" fmla="val 10000"/>
            </a:avLst>
          </a:prstGeom>
          <a:solidFill>
            <a:srgbClr val="edf5f8"/>
          </a:solidFill>
          <a:ln w="12700">
            <a:solidFill>
              <a:srgbClr val="edf5f8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6"/>
          <p:cNvSpPr/>
          <p:nvPr/>
        </p:nvSpPr>
        <p:spPr>
          <a:xfrm>
            <a:off x="804600" y="502920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03  COMPARE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7"/>
          <p:cNvSpPr/>
          <p:nvPr/>
        </p:nvSpPr>
        <p:spPr>
          <a:xfrm>
            <a:off x="2752200" y="5001840"/>
            <a:ext cx="8411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evaluate_compare.py --csv bigrun/comparison.csv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8"/>
          <p:cNvSpPr/>
          <p:nvPr/>
        </p:nvSpPr>
        <p:spPr>
          <a:xfrm>
            <a:off x="2761560" y="5330880"/>
            <a:ext cx="8475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-m shipped best_run/run_003 -m perpacket bigrun/perpacket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--eval-cap 60000   (same held-out split for every model)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530280" y="31104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Result — per-packet CNN meets the NATWORK KPIs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"/>
          <p:cNvSpPr/>
          <p:nvPr/>
        </p:nvSpPr>
        <p:spPr>
          <a:xfrm>
            <a:off x="530280" y="951120"/>
            <a:ext cx="11100240" cy="3132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548640" y="6473880"/>
            <a:ext cx="9143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4"/>
          <p:cNvSpPr/>
          <p:nvPr/>
        </p:nvSpPr>
        <p:spPr>
          <a:xfrm>
            <a:off x="11018520" y="6473880"/>
            <a:ext cx="51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13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5"/>
          <p:cNvSpPr/>
          <p:nvPr/>
        </p:nvSpPr>
        <p:spPr>
          <a:xfrm>
            <a:off x="786240" y="145404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1033200" y="1334880"/>
            <a:ext cx="10304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Shipped CNN (global-window head): FP 55.7%  ·  FN 36.7%  — far above the 1% KPI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7"/>
          <p:cNvSpPr/>
          <p:nvPr/>
        </p:nvSpPr>
        <p:spPr>
          <a:xfrm>
            <a:off x="786240" y="228600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8"/>
          <p:cNvSpPr/>
          <p:nvPr/>
        </p:nvSpPr>
        <p:spPr>
          <a:xfrm>
            <a:off x="1033200" y="2167200"/>
            <a:ext cx="10304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Same architecture retrained on the new data: FP 38.0%  ·  FN 62.0%  — still fails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9"/>
          <p:cNvSpPr/>
          <p:nvPr/>
        </p:nvSpPr>
        <p:spPr>
          <a:xfrm>
            <a:off x="786240" y="311796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0"/>
          <p:cNvSpPr/>
          <p:nvPr/>
        </p:nvSpPr>
        <p:spPr>
          <a:xfrm>
            <a:off x="1033200" y="2999160"/>
            <a:ext cx="10304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New per-packet CNN: FP 0.0001% (3 / 4.2M)  ·  FN 0.009% (162 / 1.8M)  — PASS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1"/>
          <p:cNvSpPr/>
          <p:nvPr/>
        </p:nvSpPr>
        <p:spPr>
          <a:xfrm>
            <a:off x="786240" y="3950280"/>
            <a:ext cx="77040" cy="7704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2"/>
          <p:cNvSpPr/>
          <p:nvPr/>
        </p:nvSpPr>
        <p:spPr>
          <a:xfrm>
            <a:off x="1033200" y="3831480"/>
            <a:ext cx="10304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Same 100-packet window I/O; the per-packet head is ~17× smaller (38k vs 671k params)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3"/>
          <p:cNvSpPr/>
          <p:nvPr/>
        </p:nvSpPr>
        <p:spPr>
          <a:xfrm>
            <a:off x="713160" y="5230440"/>
            <a:ext cx="10789200" cy="666720"/>
          </a:xfrm>
          <a:prstGeom prst="roundRect">
            <a:avLst>
              <a:gd name="adj" fmla="val 13699"/>
            </a:avLst>
          </a:prstGeom>
          <a:solidFill>
            <a:srgbClr val="fff1e8"/>
          </a:solidFill>
          <a:ln w="12700">
            <a:solidFill>
              <a:srgbClr val="fff1e8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4"/>
          <p:cNvSpPr/>
          <p:nvPr/>
        </p:nvSpPr>
        <p:spPr>
          <a:xfrm>
            <a:off x="923400" y="5330880"/>
            <a:ext cx="10323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8a4c26"/>
                </a:solidFill>
                <a:effectLst/>
                <a:uFillTx/>
                <a:latin typeface="Aptos"/>
                <a:ea typeface="Aptos"/>
              </a:rPr>
              <a:t>NATWORK KPIs met: false positives &lt; 1% and false negatives &lt; 1%, by three orders of magnitude — on real interleaved traffic with randomized addresses. Packaged as best_run_perpacket.zip.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LibreOffice/25.2.3.2$Linux_X86_64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2026-10-22T08:33:59Z</dcterms:created>
  <dc:creator>6G-DALI × NATWORK</dc:creator>
  <dc:description/>
  <dc:language>en-US</dc:language>
  <cp:lastModifiedBy/>
  <dcterms:modified xsi:type="dcterms:W3CDTF">2026-10-30T10:04:54Z</dcterms:modified>
  <cp:revision>4</cp:revision>
  <dc:subject>Hackathon local 5G DDoS detection challenge</dc:subject>
  <dc:title>6G-DALI × NATWORK Hackathon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